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58368" y="1371600"/>
            <a:ext cx="10874959" cy="0"/>
          </a:xfrm>
          <a:prstGeom prst="line">
            <a:avLst/>
          </a:prstGeom>
          <a:ln w="25400">
            <a:solidFill>
              <a:srgbClr val="1619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93268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D7C74"/>
                </a:solidFill>
                <a:latin typeface="Segoe UI"/>
              </a:rPr>
              <a:t>BBB ARCHITECTS  ·  DESIGN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00784"/>
            <a:ext cx="8778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>
                <a:solidFill>
                  <a:srgbClr val="16191C"/>
                </a:solidFill>
                <a:latin typeface="Segoe UI Semibold"/>
              </a:rPr>
              <a:t>AI Render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89504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3D434A"/>
                </a:solidFill>
                <a:latin typeface="Segoe UI"/>
              </a:rPr>
              <a:t>How to drive the render pipeline so it keeps your building and adopts our look — and how to tell which of the two has gone wrong.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4315968"/>
            <a:ext cx="3200400" cy="0"/>
          </a:xfrm>
          <a:prstGeom prst="line">
            <a:avLst/>
          </a:prstGeom>
          <a:ln w="12700">
            <a:solidFill>
              <a:srgbClr val="A4A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444398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D7C74"/>
                </a:solidFill>
                <a:latin typeface="Consolas"/>
              </a:rPr>
              <a:t>A-101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6191C"/>
                </a:solidFill>
                <a:latin typeface="Segoe UI Semibold"/>
              </a:rPr>
              <a:t>Two jobs, two tools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61688" y="4315968"/>
            <a:ext cx="3200400" cy="0"/>
          </a:xfrm>
          <a:prstGeom prst="line">
            <a:avLst/>
          </a:prstGeom>
          <a:ln w="12700">
            <a:solidFill>
              <a:srgbClr val="A4A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61688" y="444398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D7C74"/>
                </a:solidFill>
                <a:latin typeface="Consolas"/>
              </a:rPr>
              <a:t>A-102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6191C"/>
                </a:solidFill>
                <a:latin typeface="Segoe UI Semibold"/>
              </a:rPr>
              <a:t>Feed it the right image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65008" y="4315968"/>
            <a:ext cx="3200400" cy="0"/>
          </a:xfrm>
          <a:prstGeom prst="line">
            <a:avLst/>
          </a:prstGeom>
          <a:ln w="12700">
            <a:solidFill>
              <a:srgbClr val="A4A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65008" y="444398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D7C74"/>
                </a:solidFill>
                <a:latin typeface="Consolas"/>
              </a:rPr>
              <a:t>A-103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6191C"/>
                </a:solidFill>
                <a:latin typeface="Segoe UI Semibold"/>
              </a:rPr>
              <a:t>Settings &amp; the four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9436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737C"/>
                </a:solidFill>
                <a:latin typeface="Consolas"/>
              </a:rPr>
              <a:t>Rev A  ·  2026-08-19  ·  Flux Dev + Firm LoRA  ·  Sheets A-101 – A-103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D7C74"/>
                </a:solidFill>
                <a:latin typeface="Consolas"/>
              </a:rPr>
              <a:t>A-101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16191C"/>
                </a:solidFill>
                <a:latin typeface="Segoe UI Semibold"/>
              </a:rPr>
              <a:t>Two jobs, two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D434A"/>
                </a:solidFill>
                <a:latin typeface="Segoe UI"/>
              </a:rPr>
              <a:t>Three separate things control the image, and each owns a different part of it. Almost every wasted afternoon comes from adjusting the wrong 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875">
            <a:solidFill>
              <a:srgbClr val="A4A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07247" y="4572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37C"/>
                </a:solidFill>
                <a:latin typeface="Segoe UI"/>
              </a:rPr>
              <a:t>BBB ARCHITECTS  ·  DESIGN TECHNOLOGY</a:t>
            </a:r>
          </a:p>
          <a:p>
            <a:pPr algn="r">
              <a:spcBef>
                <a:spcPts val="200"/>
              </a:spcBef>
            </a:pPr>
            <a:r>
              <a:rPr sz="850" b="0">
                <a:solidFill>
                  <a:srgbClr val="6B737C"/>
                </a:solidFill>
                <a:latin typeface="Consolas"/>
              </a:rPr>
              <a:t>REV A  ·  2026-08-19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38528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37C"/>
                </a:solidFill>
                <a:latin typeface="Segoe UI"/>
              </a:rPr>
              <a:t>GOVERNS 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121408"/>
            <a:ext cx="3108960" cy="658368"/>
          </a:xfrm>
          <a:prstGeom prst="rect">
            <a:avLst/>
          </a:prstGeom>
          <a:solidFill>
            <a:srgbClr val="F7F8F6"/>
          </a:solidFill>
          <a:ln w="9525">
            <a:solidFill>
              <a:srgbClr val="A4A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4672" y="22402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6191C"/>
                </a:solidFill>
                <a:latin typeface="Segoe UI Semibold"/>
              </a:rPr>
              <a:t>Render pass · AO / MaterialID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37C"/>
                </a:solidFill>
                <a:latin typeface="Consolas"/>
              </a:rPr>
              <a:t>structure lock  0.75–0.90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71216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37C"/>
                </a:solidFill>
                <a:latin typeface="Segoe UI"/>
              </a:rPr>
              <a:t>GOVERNS THE LOOK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54096"/>
            <a:ext cx="3108960" cy="658368"/>
          </a:xfrm>
          <a:prstGeom prst="rect">
            <a:avLst/>
          </a:prstGeom>
          <a:solidFill>
            <a:srgbClr val="F7F8F6"/>
          </a:solidFill>
          <a:ln w="19050">
            <a:solidFill>
              <a:srgbClr val="0D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17296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6191C"/>
                </a:solidFill>
                <a:latin typeface="Segoe UI Semibold"/>
              </a:rPr>
              <a:t>Firm style LoRA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37C"/>
                </a:solidFill>
                <a:latin typeface="Consolas"/>
              </a:rPr>
              <a:t>weight  0.70–1.00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803904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37C"/>
                </a:solidFill>
                <a:latin typeface="Segoe UI"/>
              </a:rPr>
              <a:t>GOVERNS CONTENT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986784"/>
            <a:ext cx="3108960" cy="658368"/>
          </a:xfrm>
          <a:prstGeom prst="rect">
            <a:avLst/>
          </a:prstGeom>
          <a:solidFill>
            <a:srgbClr val="F7F8F6"/>
          </a:solidFill>
          <a:ln w="9525">
            <a:solidFill>
              <a:srgbClr val="A4A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" y="410565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6191C"/>
                </a:solidFill>
                <a:latin typeface="Segoe UI Semibold"/>
              </a:rPr>
              <a:t>Prompt · plain text node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37C"/>
                </a:solidFill>
                <a:latin typeface="Consolas"/>
              </a:rPr>
              <a:t>English, content only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67328" y="2450592"/>
            <a:ext cx="1152144" cy="987552"/>
          </a:xfrm>
          <a:prstGeom prst="line">
            <a:avLst/>
          </a:prstGeom>
          <a:ln w="12700">
            <a:solidFill>
              <a:srgbClr val="A4A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67328" y="3383280"/>
            <a:ext cx="1152144" cy="54864"/>
          </a:xfrm>
          <a:prstGeom prst="line">
            <a:avLst/>
          </a:prstGeom>
          <a:ln w="22225">
            <a:solidFill>
              <a:srgbClr val="0D7C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767328" y="3438144"/>
            <a:ext cx="1152144" cy="877824"/>
          </a:xfrm>
          <a:prstGeom prst="line">
            <a:avLst/>
          </a:prstGeom>
          <a:ln w="12700">
            <a:solidFill>
              <a:srgbClr val="A4A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919472" y="3054096"/>
            <a:ext cx="2286000" cy="822960"/>
          </a:xfrm>
          <a:prstGeom prst="rect">
            <a:avLst/>
          </a:prstGeom>
          <a:solidFill>
            <a:srgbClr val="F7F8F6"/>
          </a:solidFill>
          <a:ln w="19050">
            <a:solidFill>
              <a:srgbClr val="0D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84064" y="322783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6191C"/>
                </a:solidFill>
                <a:latin typeface="Segoe UI Semibold"/>
              </a:rPr>
              <a:t>Flux Dev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37C"/>
                </a:solidFill>
                <a:latin typeface="Consolas"/>
              </a:rPr>
              <a:t>guidance  3.0–4.0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05472" y="3465576"/>
            <a:ext cx="594360" cy="0"/>
          </a:xfrm>
          <a:prstGeom prst="line">
            <a:avLst/>
          </a:prstGeom>
          <a:ln w="22225">
            <a:solidFill>
              <a:srgbClr val="0D7C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799832" y="3054096"/>
            <a:ext cx="2377440" cy="822960"/>
          </a:xfrm>
          <a:prstGeom prst="rect">
            <a:avLst/>
          </a:prstGeom>
          <a:solidFill>
            <a:srgbClr val="F7F8F6"/>
          </a:solidFill>
          <a:ln w="9525">
            <a:solidFill>
              <a:srgbClr val="A4A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964424" y="3227832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6191C"/>
                </a:solidFill>
                <a:latin typeface="Segoe UI Semibold"/>
              </a:rPr>
              <a:t>Render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37C"/>
                </a:solidFill>
                <a:latin typeface="Consolas"/>
              </a:rPr>
              <a:t>your form, our look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4133088"/>
            <a:ext cx="5257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37C"/>
                </a:solidFill>
                <a:latin typeface="Segoe UI"/>
              </a:rPr>
              <a:t>The LoRA never touches geometry, and the structure lock never touches materials. They cannot substitute for one another.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626864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6B737C"/>
                </a:solidFill>
                <a:latin typeface="Segoe UI"/>
              </a:rPr>
              <a:t>READ THE SYMPTOM BEFORE YOU TOUCH A SLIDER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4864608"/>
            <a:ext cx="10881360" cy="0"/>
          </a:xfrm>
          <a:prstGeom prst="line">
            <a:avLst/>
          </a:prstGeom>
          <a:ln w="9525">
            <a:solidFill>
              <a:srgbClr val="C4C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497433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>
                <a:solidFill>
                  <a:srgbClr val="0D7C74"/>
                </a:solidFill>
                <a:latin typeface="Segoe UI"/>
              </a:rPr>
              <a:t>▪  </a:t>
            </a:r>
            <a:r>
              <a:rPr sz="1200">
                <a:solidFill>
                  <a:srgbClr val="16191C"/>
                </a:solidFill>
                <a:latin typeface="Segoe UI Semibold"/>
              </a:rPr>
              <a:t>Form drifted from your model.</a:t>
            </a:r>
            <a:r>
              <a:rPr sz="1200">
                <a:solidFill>
                  <a:srgbClr val="3D434A"/>
                </a:solidFill>
                <a:latin typeface="Segoe UI"/>
              </a:rPr>
              <a:t> A structure-lock problem. Raise the lock, or lower Img2Img denoise. Changing the LoRA will not help.</a:t>
            </a:r>
          </a:p>
          <a:p>
            <a:pPr>
              <a:lnSpc>
                <a:spcPct val="128000"/>
              </a:lnSpc>
              <a:spcBef>
                <a:spcPts val="900"/>
              </a:spcBef>
            </a:pPr>
            <a:r>
              <a:rPr sz="1200">
                <a:solidFill>
                  <a:srgbClr val="0D7C74"/>
                </a:solidFill>
                <a:latin typeface="Segoe UI"/>
              </a:rPr>
              <a:t>▪  </a:t>
            </a:r>
            <a:r>
              <a:rPr sz="1200">
                <a:solidFill>
                  <a:srgbClr val="16191C"/>
                </a:solidFill>
                <a:latin typeface="Segoe UI Semibold"/>
              </a:rPr>
              <a:t>Looks like a stock render, not ours.</a:t>
            </a:r>
            <a:r>
              <a:rPr sz="1200">
                <a:solidFill>
                  <a:srgbClr val="3D434A"/>
                </a:solidFill>
                <a:latin typeface="Segoe UI"/>
              </a:rPr>
              <a:t> A style problem — LoRA weight or the training set. Piling adjectives into the prompt will not fix it.</a:t>
            </a:r>
          </a:p>
          <a:p>
            <a:pPr>
              <a:lnSpc>
                <a:spcPct val="128000"/>
              </a:lnSpc>
              <a:spcBef>
                <a:spcPts val="900"/>
              </a:spcBef>
            </a:pPr>
            <a:r>
              <a:rPr sz="1200">
                <a:solidFill>
                  <a:srgbClr val="0D7C74"/>
                </a:solidFill>
                <a:latin typeface="Segoe UI"/>
              </a:rPr>
              <a:t>▪  </a:t>
            </a:r>
            <a:r>
              <a:rPr sz="1200">
                <a:solidFill>
                  <a:srgbClr val="16191C"/>
                </a:solidFill>
                <a:latin typeface="Segoe UI Semibold"/>
              </a:rPr>
              <a:t>Two runs came out identical.</a:t>
            </a:r>
            <a:r>
              <a:rPr sz="1200">
                <a:solidFill>
                  <a:srgbClr val="3D434A"/>
                </a:solidFill>
                <a:latin typeface="Segoe UI"/>
              </a:rPr>
              <a:t> The seed is locked, or the prompt never reached the model — check the text node's output before blaming the settings.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D7C74"/>
                </a:solidFill>
                <a:latin typeface="Consolas"/>
              </a:rPr>
              <a:t>A-102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16191C"/>
                </a:solidFill>
                <a:latin typeface="Segoe UI Semibold"/>
              </a:rPr>
              <a:t>Feed it the right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D434A"/>
                </a:solidFill>
                <a:latin typeface="Segoe UI"/>
              </a:rPr>
              <a:t>We already export everything the pipeline needs. The difference between a throwaway result and a deliverable is almost always the input pass, not the settings.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875">
            <a:solidFill>
              <a:srgbClr val="A4A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07247" y="4572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37C"/>
                </a:solidFill>
                <a:latin typeface="Segoe UI"/>
              </a:rPr>
              <a:t>BBB ARCHITECTS  ·  DESIGN TECHNOLOGY</a:t>
            </a:r>
          </a:p>
          <a:p>
            <a:pPr algn="r">
              <a:spcBef>
                <a:spcPts val="200"/>
              </a:spcBef>
            </a:pPr>
            <a:r>
              <a:rPr sz="850" b="0">
                <a:solidFill>
                  <a:srgbClr val="6B737C"/>
                </a:solidFill>
                <a:latin typeface="Consolas"/>
              </a:rPr>
              <a:t>REV A  ·  2026-08-19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1168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6B737C"/>
                </a:solidFill>
                <a:latin typeface="Segoe UI"/>
              </a:rPr>
              <a:t>WHICH PASS, AND WHAT FOR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2249424"/>
            <a:ext cx="10881360" cy="0"/>
          </a:xfrm>
          <a:prstGeom prst="line">
            <a:avLst/>
          </a:prstGeom>
          <a:ln w="9525">
            <a:solidFill>
              <a:srgbClr val="C4C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2395728"/>
          <a:ext cx="10872216" cy="2231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5852160"/>
                <a:gridCol w="3008376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6B737C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0584" marR="100584" marT="54864" marB="54864" anchor="ctr">
                    <a:solidFill>
                      <a:srgbClr val="EC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6B737C"/>
                          </a:solidFill>
                          <a:latin typeface="Segoe UI"/>
                        </a:rPr>
                        <a:t>USE FOR</a:t>
                      </a:r>
                    </a:p>
                  </a:txBody>
                  <a:tcPr marL="100584" marR="100584" marT="54864" marB="54864" anchor="ctr">
                    <a:solidFill>
                      <a:srgbClr val="EC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6B737C"/>
                          </a:solidFill>
                          <a:latin typeface="Segoe UI"/>
                        </a:rPr>
                        <a:t>MODE &amp; STRENGTH</a:t>
                      </a:r>
                    </a:p>
                  </a:txBody>
                  <a:tcPr marL="100584" marR="100584" marT="54864" marB="54864" anchor="ctr">
                    <a:solidFill>
                      <a:srgbClr val="ECEE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16191C"/>
                          </a:solidFill>
                          <a:latin typeface="Segoe UI Semibold"/>
                        </a:rPr>
                        <a:t>MaterialID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3D434A"/>
                          </a:solidFill>
                          <a:latin typeface="Segoe UI"/>
                        </a:rPr>
                        <a:t>Cleanest edges — every material boundary becomes a line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16191C"/>
                          </a:solidFill>
                          <a:latin typeface="Consolas"/>
                        </a:rPr>
                        <a:t>Canny 0.85–0.90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16191C"/>
                          </a:solidFill>
                          <a:latin typeface="Segoe UI Semibold"/>
                        </a:rPr>
                        <a:t>AO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3D434A"/>
                          </a:solidFill>
                          <a:latin typeface="Segoe UI"/>
                        </a:rPr>
                        <a:t>Structure lock — solid masses, real tonal range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16191C"/>
                          </a:solidFill>
                          <a:latin typeface="Consolas"/>
                        </a:rPr>
                        <a:t>Depth 0.75–0.85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16191C"/>
                          </a:solidFill>
                          <a:latin typeface="Segoe UI Semibold"/>
                        </a:rPr>
                        <a:t>Albedo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3D434A"/>
                          </a:solidFill>
                          <a:latin typeface="Segoe UI"/>
                        </a:rPr>
                        <a:t>Carries the real material colours off your model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16191C"/>
                          </a:solidFill>
                          <a:latin typeface="Consolas"/>
                        </a:rPr>
                        <a:t>Img2Img 0.35–0.45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37C"/>
                          </a:solidFill>
                          <a:latin typeface="Segoe UI Semibold"/>
                        </a:rPr>
                        <a:t>Final render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3D434A"/>
                          </a:solidFill>
                          <a:latin typeface="Segoe UI"/>
                        </a:rPr>
                        <a:t>Training data — never an input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16191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37C"/>
                          </a:solidFill>
                          <a:latin typeface="Segoe UI Semibold"/>
                        </a:rPr>
                        <a:t>Hidden-line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3D434A"/>
                          </a:solidFill>
                          <a:latin typeface="Segoe UI"/>
                        </a:rPr>
                        <a:t>Do not use. Too sparse; it washes out and drifts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16191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" y="484632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6B737C"/>
                </a:solidFill>
                <a:latin typeface="Segoe UI"/>
              </a:rPr>
              <a:t>BEFORE YOU UPLOAD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5084064"/>
            <a:ext cx="10881360" cy="0"/>
          </a:xfrm>
          <a:prstGeom prst="line">
            <a:avLst/>
          </a:prstGeom>
          <a:ln w="9525">
            <a:solidFill>
              <a:srgbClr val="C4C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51937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>
                <a:solidFill>
                  <a:srgbClr val="0D7C74"/>
                </a:solidFill>
                <a:latin typeface="Segoe UI"/>
              </a:rPr>
              <a:t>▪  </a:t>
            </a:r>
            <a:r>
              <a:rPr sz="1200">
                <a:solidFill>
                  <a:srgbClr val="16191C"/>
                </a:solidFill>
                <a:latin typeface="Segoe UI Semibold"/>
              </a:rPr>
              <a:t>Fill black backgrounds with white.</a:t>
            </a:r>
            <a:r>
              <a:rPr sz="1200">
                <a:solidFill>
                  <a:srgbClr val="3D434A"/>
                </a:solidFill>
                <a:latin typeface="Segoe UI"/>
              </a:rPr>
              <a:t> Albedo exports on black, and black sky in means black sky out.</a:t>
            </a:r>
          </a:p>
          <a:p>
            <a:pPr>
              <a:lnSpc>
                <a:spcPct val="128000"/>
              </a:lnSpc>
              <a:spcBef>
                <a:spcPts val="900"/>
              </a:spcBef>
            </a:pPr>
            <a:r>
              <a:rPr sz="1200">
                <a:solidFill>
                  <a:srgbClr val="0D7C74"/>
                </a:solidFill>
                <a:latin typeface="Segoe UI"/>
              </a:rPr>
              <a:t>▪  </a:t>
            </a:r>
            <a:r>
              <a:rPr sz="1200">
                <a:solidFill>
                  <a:srgbClr val="16191C"/>
                </a:solidFill>
                <a:latin typeface="Segoe UI Semibold"/>
              </a:rPr>
              <a:t>Crop tight, keep the passes aligned.</a:t>
            </a:r>
            <a:r>
              <a:rPr sz="1200">
                <a:solidFill>
                  <a:srgbClr val="3D434A"/>
                </a:solidFill>
                <a:latin typeface="Segoe UI"/>
              </a:rPr>
              <a:t> The building fills the frame. They already share a camera — don't recrop one of them.</a:t>
            </a:r>
          </a:p>
          <a:p>
            <a:pPr>
              <a:lnSpc>
                <a:spcPct val="128000"/>
              </a:lnSpc>
              <a:spcBef>
                <a:spcPts val="900"/>
              </a:spcBef>
            </a:pPr>
            <a:r>
              <a:rPr sz="1200">
                <a:solidFill>
                  <a:srgbClr val="0D7C74"/>
                </a:solidFill>
                <a:latin typeface="Segoe UI"/>
              </a:rPr>
              <a:t>▪  </a:t>
            </a:r>
            <a:r>
              <a:rPr sz="1200">
                <a:solidFill>
                  <a:srgbClr val="16191C"/>
                </a:solidFill>
                <a:latin typeface="Segoe UI Semibold"/>
              </a:rPr>
              <a:t>At least 1024 px, and prefer a Z-Depth pass over AO if the engine writes one.</a:t>
            </a:r>
            <a:r>
              <a:rPr sz="1200">
                <a:solidFill>
                  <a:srgbClr val="3D434A"/>
                </a:solidFill>
                <a:latin typeface="Segoe UI"/>
              </a:rPr>
              <a:t> AO approximates depth; Z-Depth is the real 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D7C74"/>
                </a:solidFill>
                <a:latin typeface="Consolas"/>
              </a:rPr>
              <a:t>A-103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16191C"/>
                </a:solidFill>
                <a:latin typeface="Segoe UI Semibold"/>
              </a:rPr>
              <a:t>Settings and the four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D434A"/>
                </a:solidFill>
                <a:latin typeface="Segoe UI"/>
              </a:rPr>
              <a:t>Outside these ranges the model does not degrade gracefully — it stops responding to you.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810512"/>
            <a:ext cx="10874959" cy="0"/>
          </a:xfrm>
          <a:prstGeom prst="line">
            <a:avLst/>
          </a:prstGeom>
          <a:ln w="15875">
            <a:solidFill>
              <a:srgbClr val="A4A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07247" y="4572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6B737C"/>
                </a:solidFill>
                <a:latin typeface="Segoe UI"/>
              </a:rPr>
              <a:t>BBB ARCHITECTS  ·  DESIGN TECHNOLOGY</a:t>
            </a:r>
          </a:p>
          <a:p>
            <a:pPr algn="r">
              <a:spcBef>
                <a:spcPts val="200"/>
              </a:spcBef>
            </a:pPr>
            <a:r>
              <a:rPr sz="850" b="0">
                <a:solidFill>
                  <a:srgbClr val="6B737C"/>
                </a:solidFill>
                <a:latin typeface="Consolas"/>
              </a:rPr>
              <a:t>REV A  ·  2026-08-19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9339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6B737C"/>
                </a:solidFill>
                <a:latin typeface="Segoe UI"/>
              </a:rPr>
              <a:t>WORKING RANGES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2231136"/>
            <a:ext cx="10881360" cy="0"/>
          </a:xfrm>
          <a:prstGeom prst="line">
            <a:avLst/>
          </a:prstGeom>
          <a:ln w="9525">
            <a:solidFill>
              <a:srgbClr val="C4C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58368" y="2359152"/>
            <a:ext cx="3547872" cy="1042415"/>
          </a:xfrm>
          <a:prstGeom prst="rect">
            <a:avLst/>
          </a:prstGeom>
          <a:solidFill>
            <a:srgbClr val="F7F8F6"/>
          </a:solidFill>
          <a:ln w="9525">
            <a:solidFill>
              <a:srgbClr val="C4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5528" y="2459736"/>
            <a:ext cx="3273552" cy="859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6B737C"/>
                </a:solidFill>
                <a:latin typeface="Segoe UI"/>
              </a:rPr>
              <a:t>GUIDANCE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600" b="0">
                <a:solidFill>
                  <a:srgbClr val="0D7C74"/>
                </a:solidFill>
                <a:latin typeface="Consolas"/>
              </a:rPr>
              <a:t>3.0 – 4.0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950" b="0">
                <a:solidFill>
                  <a:srgbClr val="3D434A"/>
                </a:solidFill>
                <a:latin typeface="Segoe UI"/>
              </a:rPr>
              <a:t>Flux is guidance-distilled. At 20 the image burns and the structure lock stops mattering.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2359152"/>
            <a:ext cx="3547872" cy="1042415"/>
          </a:xfrm>
          <a:prstGeom prst="rect">
            <a:avLst/>
          </a:prstGeom>
          <a:solidFill>
            <a:srgbClr val="F7F8F6"/>
          </a:solidFill>
          <a:ln w="9525">
            <a:solidFill>
              <a:srgbClr val="C4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9704" y="2459736"/>
            <a:ext cx="3273552" cy="859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6B737C"/>
                </a:solidFill>
                <a:latin typeface="Segoe UI"/>
              </a:rPr>
              <a:t>LORA WEIGHT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600" b="0">
                <a:solidFill>
                  <a:srgbClr val="0D7C74"/>
                </a:solidFill>
                <a:latin typeface="Consolas"/>
              </a:rPr>
              <a:t>0.70 – 1.00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950" b="0">
                <a:solidFill>
                  <a:srgbClr val="3D434A"/>
                </a:solidFill>
                <a:latin typeface="Segoe UI"/>
              </a:rPr>
              <a:t>Use 0.40–0.60 for an overfit model. Past ~1.20 the adapter overpowers the base.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359152"/>
            <a:ext cx="3547872" cy="1042415"/>
          </a:xfrm>
          <a:prstGeom prst="rect">
            <a:avLst/>
          </a:prstGeom>
          <a:solidFill>
            <a:srgbClr val="F7F8F6"/>
          </a:solidFill>
          <a:ln w="9525">
            <a:solidFill>
              <a:srgbClr val="C4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83880" y="2459736"/>
            <a:ext cx="3273552" cy="859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6B737C"/>
                </a:solidFill>
                <a:latin typeface="Segoe UI"/>
              </a:rPr>
              <a:t>STRUCTURE LOCK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600" b="0">
                <a:solidFill>
                  <a:srgbClr val="0D7C74"/>
                </a:solidFill>
                <a:latin typeface="Consolas"/>
              </a:rPr>
              <a:t>0.75 – 0.90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950" b="0">
                <a:solidFill>
                  <a:srgbClr val="3D434A"/>
                </a:solidFill>
                <a:latin typeface="Segoe UI"/>
              </a:rPr>
              <a:t>Depth low, Canny high. At 1.00 the style cannot express itself at 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547871"/>
            <a:ext cx="3547872" cy="1042415"/>
          </a:xfrm>
          <a:prstGeom prst="rect">
            <a:avLst/>
          </a:prstGeom>
          <a:solidFill>
            <a:srgbClr val="F7F8F6"/>
          </a:solidFill>
          <a:ln w="9525">
            <a:solidFill>
              <a:srgbClr val="C4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95528" y="3648455"/>
            <a:ext cx="3273552" cy="859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6B737C"/>
                </a:solidFill>
                <a:latin typeface="Segoe UI"/>
              </a:rPr>
              <a:t>IMG2IMG DENOISE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600" b="0">
                <a:solidFill>
                  <a:srgbClr val="0D7C74"/>
                </a:solidFill>
                <a:latin typeface="Consolas"/>
              </a:rPr>
              <a:t>0.35 – 0.45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950" b="0">
                <a:solidFill>
                  <a:srgbClr val="3D434A"/>
                </a:solidFill>
                <a:latin typeface="Segoe UI"/>
              </a:rPr>
              <a:t>The share of the picture being rewritten. Above 0.5 the form drifts by design.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2544" y="3547871"/>
            <a:ext cx="3547872" cy="1042415"/>
          </a:xfrm>
          <a:prstGeom prst="rect">
            <a:avLst/>
          </a:prstGeom>
          <a:solidFill>
            <a:srgbClr val="F7F8F6"/>
          </a:solidFill>
          <a:ln w="9525">
            <a:solidFill>
              <a:srgbClr val="C4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89704" y="3648455"/>
            <a:ext cx="3273552" cy="859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6B737C"/>
                </a:solidFill>
                <a:latin typeface="Segoe UI"/>
              </a:rPr>
              <a:t>SEED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600" b="0">
                <a:solidFill>
                  <a:srgbClr val="0D7C74"/>
                </a:solidFill>
                <a:latin typeface="Consolas"/>
              </a:rPr>
              <a:t>free / locked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950" b="0">
                <a:solidFill>
                  <a:srgbClr val="3D434A"/>
                </a:solidFill>
                <a:latin typeface="Segoe UI"/>
              </a:rPr>
              <a:t>Free while judging a change. Locked when comparing two settings.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547871"/>
            <a:ext cx="3547872" cy="1042415"/>
          </a:xfrm>
          <a:prstGeom prst="rect">
            <a:avLst/>
          </a:prstGeom>
          <a:solidFill>
            <a:srgbClr val="F7F8F6"/>
          </a:solidFill>
          <a:ln w="9525">
            <a:solidFill>
              <a:srgbClr val="C4C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83880" y="3648455"/>
            <a:ext cx="3273552" cy="859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6B737C"/>
                </a:solidFill>
                <a:latin typeface="Segoe UI"/>
              </a:rPr>
              <a:t>NODE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600" b="0">
                <a:solidFill>
                  <a:srgbClr val="0D7C74"/>
                </a:solidFill>
                <a:latin typeface="Consolas"/>
              </a:rPr>
              <a:t>Flux Dev LoRA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950" b="0">
                <a:solidFill>
                  <a:srgbClr val="3D434A"/>
                </a:solidFill>
                <a:latin typeface="Segoe UI"/>
              </a:rPr>
              <a:t>The only node that takes our style model. Pro / Turbo / Enterprise cannot.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901184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6B737C"/>
                </a:solidFill>
                <a:latin typeface="Segoe UI"/>
              </a:rPr>
              <a:t>THE FOUR FAILURES AND THEIR REAL CAUSES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5138928"/>
            <a:ext cx="10881360" cy="0"/>
          </a:xfrm>
          <a:prstGeom prst="line">
            <a:avLst/>
          </a:prstGeom>
          <a:ln w="9525">
            <a:solidFill>
              <a:srgbClr val="C4C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58368" y="5266944"/>
          <a:ext cx="10872216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5120640"/>
                <a:gridCol w="3465576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6B737C"/>
                          </a:solidFill>
                          <a:latin typeface="Segoe UI"/>
                        </a:rPr>
                        <a:t>WHAT YOU SEE</a:t>
                      </a:r>
                    </a:p>
                  </a:txBody>
                  <a:tcPr marL="100584" marR="100584" marT="54864" marB="54864" anchor="ctr">
                    <a:solidFill>
                      <a:srgbClr val="EC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6B737C"/>
                          </a:solidFill>
                          <a:latin typeface="Segoe UI"/>
                        </a:rPr>
                        <a:t>ACTUAL CAUSE</a:t>
                      </a:r>
                    </a:p>
                  </a:txBody>
                  <a:tcPr marL="100584" marR="100584" marT="54864" marB="54864" anchor="ctr">
                    <a:solidFill>
                      <a:srgbClr val="EC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6B737C"/>
                          </a:solidFill>
                          <a:latin typeface="Segoe UI"/>
                        </a:rPr>
                        <a:t>FIX</a:t>
                      </a:r>
                    </a:p>
                  </a:txBody>
                  <a:tcPr marL="100584" marR="100584" marT="54864" marB="54864" anchor="ctr">
                    <a:solidFill>
                      <a:srgbClr val="ECEEE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16191C"/>
                          </a:solidFill>
                          <a:latin typeface="Segoe UI Semibold"/>
                        </a:rPr>
                        <a:t>Form changed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3D434A"/>
                          </a:solidFill>
                          <a:latin typeface="Segoe UI"/>
                        </a:rPr>
                        <a:t>Structure lock too weak, or Img2Img denoise too high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16191C"/>
                          </a:solidFill>
                          <a:latin typeface="Consolas"/>
                        </a:rPr>
                        <a:t>lock +0.10  /  denoise −0.15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16191C"/>
                          </a:solidFill>
                          <a:latin typeface="Segoe UI Semibold"/>
                        </a:rPr>
                        <a:t>Washed out, black sky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3D434A"/>
                          </a:solidFill>
                          <a:latin typeface="Segoe UI"/>
                        </a:rPr>
                        <a:t>The input pass's own background carrying through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3D434A"/>
                          </a:solidFill>
                          <a:latin typeface="Segoe UI"/>
                        </a:rPr>
                        <a:t>Fill white; name the sky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16191C"/>
                          </a:solidFill>
                          <a:latin typeface="Segoe UI Semibold"/>
                        </a:rPr>
                        <a:t>Generic, not our look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3D434A"/>
                          </a:solidFill>
                          <a:latin typeface="Segoe UI"/>
                        </a:rPr>
                        <a:t>LoRA weight or the training set — not the prompt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16191C"/>
                          </a:solidFill>
                          <a:latin typeface="Consolas"/>
                        </a:rPr>
                        <a:t>sweep 0.00 / 0.45 / 0.80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16191C"/>
                          </a:solidFill>
                          <a:latin typeface="Segoe UI Semibold"/>
                        </a:rPr>
                        <a:t>Nothing changed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3D434A"/>
                          </a:solidFill>
                          <a:latin typeface="Segoe UI"/>
                        </a:rPr>
                        <a:t>Seed locked, or the prompt never arrived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050" b="0">
                          <a:solidFill>
                            <a:srgbClr val="3D434A"/>
                          </a:solidFill>
                          <a:latin typeface="Segoe UI"/>
                        </a:rPr>
                        <a:t>Read the text node's output</a:t>
                      </a:r>
                    </a:p>
                  </a:txBody>
                  <a:tcPr marL="100584" marR="100584" marT="54864" marB="54864" anchor="ctr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Render Standards</dc:title>
  <dc:subject/>
  <dc:creator>BBB Architects · Design Technology</dc:creator>
  <cp:keywords/>
  <dc:description>Rev A — Flux Dev + Firm LoRA pipeline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